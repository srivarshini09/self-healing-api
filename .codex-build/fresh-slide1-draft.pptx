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65d591588e4971" /><Relationship Type="http://schemas.openxmlformats.org/officeDocument/2006/relationships/extended-properties" Target="/docProps/app.xml" Id="Ra9418c12de7c427f" /><Relationship Type="http://schemas.openxmlformats.org/officeDocument/2006/relationships/officeDocument" Target="/ppt/presentation.xml" Id="Rce0b3a59817f43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5a20aa73a94e4a"/>
  </p:sldMasterIdLst>
  <p:notesMasterIdLst>
    <p:notesMasterId xmlns:r="http://schemas.openxmlformats.org/officeDocument/2006/relationships" r:id="Re06fae7e0ab2423c"/>
  </p:notesMasterIdLst>
  <p:sldIdLst>
    <p:sldId xmlns:r="http://schemas.openxmlformats.org/officeDocument/2006/relationships" id="256" r:id="Rd108c152b3c14d6a"/>
    <p:sldId xmlns:r="http://schemas.openxmlformats.org/officeDocument/2006/relationships" id="257" r:id="Rde6b05dbdf4a40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0216fb9c4d4b15" /><Relationship Type="http://schemas.openxmlformats.org/officeDocument/2006/relationships/slideMaster" Target="/ppt/slideMasters/slideMaster1.xml" Id="R155a20aa73a94e4a" /><Relationship Type="http://schemas.openxmlformats.org/officeDocument/2006/relationships/notesMaster" Target="/ppt/notesMasters/notesMaster1.xml" Id="Re06fae7e0ab2423c" /><Relationship Type="http://schemas.openxmlformats.org/officeDocument/2006/relationships/presProps" Target="/ppt/presProps.xml" Id="Rb2a8e2112dd141b3" /><Relationship Type="http://schemas.openxmlformats.org/officeDocument/2006/relationships/tableStyles" Target="/ppt/tableStyles.xml" Id="R06adc356d3294ab4" /><Relationship Type="http://schemas.openxmlformats.org/officeDocument/2006/relationships/slide" Target="/ppt/slides/slide1.xml" Id="Rd108c152b3c14d6a" /><Relationship Type="http://schemas.openxmlformats.org/officeDocument/2006/relationships/slide" Target="/ppt/slides/slide2.xml" Id="Rde6b05dbdf4a40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a080781dbb48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c0765e032a4de3" /><Relationship Type="http://schemas.openxmlformats.org/officeDocument/2006/relationships/notesMaster" Target="/ppt/notesMasters/notesMaster1.xml" Id="R82b2854e0d9a49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c1c6f65f77473e" /><Relationship Type="http://schemas.openxmlformats.org/officeDocument/2006/relationships/notesMaster" Target="/ppt/notesMasters/notesMaster1.xml" Id="R5838ef897dba47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A payment webhook can return 200 OK while the customer still does not receive access. SHAPI adds a behavioral assurance layer that verifies the business outcome. Introduce yourself briefly as the builder.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problem slide: delivery tooling can prove that a webhook arrived and was acknowledged. It cannot prove that the customer received the intended business outcome. That gap creates lost revenue and support work for SaaS teams.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a455695314c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abe2c1efca4844" /><Relationship Type="http://schemas.openxmlformats.org/officeDocument/2006/relationships/slideLayout" Target="/ppt/slideLayouts/slideLayout1.xml" Id="Ref0a5ea885ff49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0a5ea885ff49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0b8b6b7d349ac" /><Relationship Type="http://schemas.openxmlformats.org/officeDocument/2006/relationships/notesSlide" Target="/ppt/notesSlides/notesSlide1.xml" Id="Rdae1a0a8e36447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00e2e7e4c4705" /><Relationship Type="http://schemas.openxmlformats.org/officeDocument/2006/relationships/notesSlide" Target="/ppt/notesSlides/notesSlide2.xml" Id="Rfdcab18bed064e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205173-29E2-42DA-8F23-35F82D4F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D1808-F673-401F-8F40-FC3CC6BD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95250" cy="676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F8FB4-9028-4019-A885-4738849A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2190750" cy="2190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8EEFF">
                  <a:alpha val="55000"/>
                </a:srgbClr>
              </a:gs>
              <a:gs pos="100000">
                <a:srgbClr val="D8EE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B4423-294F-46E3-A8F4-97629C4D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76875"/>
            <a:ext cx="1381125" cy="1381125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8EEFF">
                  <a:alpha val="45000"/>
                </a:srgbClr>
              </a:gs>
              <a:gs pos="100000">
                <a:srgbClr val="D8EE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5FD05-8353-44A8-A097-3EBF27B6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52E3F-9A08-4C2D-85D3-A8B494D7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AI CONFERENCE HACK DAY '26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FB78C-C6E7-48ED-AFA8-45A95EA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38300"/>
            <a:ext cx="6000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200 OK can still</a:t>
            </a:r>
          </a:p>
          <a:p xmlns:a="http://schemas.openxmlformats.org/drawingml/2006/main">
            <a:pPr algn="l">
              <a:defRPr sz="40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fail the customer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0C125-1D3C-461A-8635-A4EBD3AA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0708A"/>
                </a:solidFill>
                <a:latin typeface="Arial"/>
                <a:ea typeface="Arial"/>
                <a:cs typeface="Arial"/>
              </a:rPr>
              <a:t>Self-healing API reliability for business-critical integrations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9DE93-4BEB-4F5F-A6F6-60E64CA7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81150"/>
            <a:ext cx="34861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D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D46B4D-6952-4658-BBB6-CC52C6A1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431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TRANSPORT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4FCA4-F335-485B-8714-30A5494A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24100"/>
            <a:ext cx="24193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9525">
            <a:solidFill>
              <a:srgbClr val="B9D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C7DEB-04D8-4EF4-B0D6-81493464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8602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200 OK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7430F-A82E-467B-8692-3F8A44C3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0515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C8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805240-B446-409F-9330-180F2457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BUSINESS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B93082-3FEF-431D-B716-49479845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43350"/>
            <a:ext cx="24193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4B5B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A4A79-E4A3-4206-A2D5-23F8F340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05275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96B7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96B72"/>
                </a:solidFill>
                <a:latin typeface="Arial"/>
                <a:ea typeface="Arial"/>
                <a:cs typeface="Arial"/>
              </a:rPr>
              <a:t>no access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58A7F-F783-486B-969F-75BA447B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5829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69987B-7EEB-474B-8345-FC762B96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Built by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D2ED67-C43B-4441-9C73-F6620056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435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Tulasi Venkata Sri Varshini Padamata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CAFAE6-DE8D-47B8-B06B-10763082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81977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F80ED"/>
                </a:solidFill>
                <a:latin typeface="Arial"/>
                <a:ea typeface="Arial"/>
                <a:cs typeface="Arial"/>
              </a:rPr>
              <a:t>GitHub @SriVarshini09  ·  LinkedIn /in/ptvsv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748BFF-4754-46A1-89CE-EFD28C92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581650"/>
            <a:ext cx="3752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SHAPI verifies the outcome behind the webhook.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DAAEA7-FE3B-477E-9309-83CA935C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417140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A12964-333C-4E51-99E0-BAC76B80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88226-88EA-43C9-A202-ED5D2245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95250" cy="676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A812BD-C265-4319-A40A-13F51151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2190750" cy="21907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D8EEFF">
                  <a:alpha val="45000"/>
                </a:srgbClr>
              </a:gs>
              <a:gs pos="100000">
                <a:srgbClr val="D8EE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1FBA3-39BF-4490-B46B-9D183D82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0B349-D4C1-43E9-BAD8-AAA25F5F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340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02  / 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B86ADD-D3D9-4A79-B6BD-CBC45B56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4900"/>
            <a:ext cx="685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Transport success is not</a:t>
            </a:r>
          </a:p>
          <a:p xmlns:a="http://schemas.openxmlformats.org/drawingml/2006/main">
            <a:pPr algn="l">
              <a:defRPr sz="34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customer success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B419D-1A8C-4D49-B691-FF3957D3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0708A"/>
                </a:solidFill>
                <a:latin typeface="Arial"/>
                <a:ea typeface="Arial"/>
                <a:cs typeface="Arial"/>
              </a:rPr>
              <a:t>A webhook can arrive, return 200 OK, and still leave the customer without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6ACCC1-0AF9-4FA3-88CA-2B062398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2762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D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972F7-DB3B-4B9A-A385-88D52F08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53D78-5410-4D08-8A75-0C83B04F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76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Payment event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EA822-7270-4D5E-ACA6-40063C89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08A"/>
                </a:solidFill>
                <a:latin typeface="Arial"/>
                <a:ea typeface="Arial"/>
                <a:cs typeface="Arial"/>
              </a:rPr>
              <a:t>invoice.payment_succeeded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61378D-CB5B-4F34-9C2D-E3AF4D19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2171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B98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0B981"/>
                </a:solidFill>
                <a:latin typeface="Arial"/>
                <a:ea typeface="Arial"/>
                <a:cs typeface="Arial"/>
              </a:rPr>
              <a:t>Provider reports success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54DF5-BA74-449D-9D53-E7D30EE1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67100"/>
            <a:ext cx="2762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1F8FF"/>
          </a:solidFill>
          <a:ln xmlns:a="http://schemas.openxmlformats.org/drawingml/2006/main" w="19050">
            <a:solidFill>
              <a:srgbClr val="B9D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675F46-794F-48D7-8DB0-3C6570B7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95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9889F8-D976-47E6-B30F-EA1A9DC4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766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Transport 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B7C0A-D7F8-4843-8B0E-62B0CE83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17195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200 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DCFDF9-B0A6-47C0-A812-8674E22F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55295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0708A"/>
                </a:solidFill>
                <a:latin typeface="Arial"/>
                <a:ea typeface="Arial"/>
                <a:cs typeface="Arial"/>
              </a:rPr>
              <a:t>Webhook acknowledged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D0107-B0B2-4BD2-A9E8-B1881231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67100"/>
            <a:ext cx="2762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2F3"/>
          </a:solidFill>
          <a:ln xmlns:a="http://schemas.openxmlformats.org/drawingml/2006/main" w="19050">
            <a:solidFill>
              <a:srgbClr val="F2B5B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A29AC-7521-4DE8-8607-D42E1060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95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96B7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96B7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B84525-69E4-4117-B88B-5B46D28F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766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Business outcome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FA7D9-0DAB-46F2-8F34-A08AB691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96B7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96B72"/>
                </a:solidFill>
                <a:latin typeface="Arial"/>
                <a:ea typeface="Arial"/>
                <a:cs typeface="Arial"/>
              </a:rPr>
              <a:t>no access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0CC2BB-BDD9-428C-A640-5E3D23B1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529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E96B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96B72"/>
                </a:solidFill>
                <a:latin typeface="Arial"/>
                <a:ea typeface="Arial"/>
                <a:cs typeface="Arial"/>
              </a:rPr>
              <a:t>Provisioning silently skipped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39ADF9-E298-4A73-B248-473524BB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7195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C8F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9195BB-FC76-414C-AC95-E2E1FAFD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71950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6B7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90908C-7B31-429A-8382-A83F6BCF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The failure lives after the HTTP response.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CE20CB-D3A3-481B-872C-E3AA5A97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388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08A"/>
                </a:solidFill>
                <a:latin typeface="Arial"/>
                <a:ea typeface="Arial"/>
                <a:cs typeface="Arial"/>
              </a:rPr>
              <a:t>For SaaS teams, that means paid customers without access.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8B4325-1C24-4C00-BAF7-8FDE7E1EA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848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F80E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F80ED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FADD6B-BC10-4FC7-A4F3-71D5BF8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0708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80529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2026-09-29T21:28:42.9100000Z</dcterms:created>
  <dcterms:modified xsi:type="dcterms:W3CDTF">2026-09-29T21:28:42.9100000Z</dcterms:modified>
</coreProperties>
</file>