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2ac8c13df4c7f" /><Relationship Type="http://schemas.openxmlformats.org/officeDocument/2006/relationships/extended-properties" Target="/docProps/app.xml" Id="Radc312f3dbcd4aae" /><Relationship Type="http://schemas.openxmlformats.org/officeDocument/2006/relationships/officeDocument" Target="/ppt/presentation.xml" Id="R3942b58bc76a45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dc9d54a5f44bc5"/>
  </p:sldMasterIdLst>
  <p:notesMasterIdLst>
    <p:notesMasterId xmlns:r="http://schemas.openxmlformats.org/officeDocument/2006/relationships" r:id="Re8f2c2f4336a411b"/>
  </p:notesMasterIdLst>
  <p:sldIdLst>
    <p:sldId xmlns:r="http://schemas.openxmlformats.org/officeDocument/2006/relationships" id="256" r:id="Rc148757b68c84242"/>
    <p:sldId xmlns:r="http://schemas.openxmlformats.org/officeDocument/2006/relationships" id="257" r:id="Raed031adf30145a3"/>
    <p:sldId xmlns:r="http://schemas.openxmlformats.org/officeDocument/2006/relationships" id="258" r:id="R99a95b7e4a6f4a67"/>
    <p:sldId xmlns:r="http://schemas.openxmlformats.org/officeDocument/2006/relationships" id="259" r:id="R9d38d5e358af41f5"/>
    <p:sldId xmlns:r="http://schemas.openxmlformats.org/officeDocument/2006/relationships" id="260" r:id="Rbd2539509da14146"/>
    <p:sldId xmlns:r="http://schemas.openxmlformats.org/officeDocument/2006/relationships" id="261" r:id="Rb59d15810e7a4b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7a7a3c94aa4dfd" /><Relationship Type="http://schemas.openxmlformats.org/officeDocument/2006/relationships/slideMaster" Target="/ppt/slideMasters/slideMaster1.xml" Id="R5adc9d54a5f44bc5" /><Relationship Type="http://schemas.openxmlformats.org/officeDocument/2006/relationships/notesMaster" Target="/ppt/notesMasters/notesMaster1.xml" Id="Re8f2c2f4336a411b" /><Relationship Type="http://schemas.openxmlformats.org/officeDocument/2006/relationships/presProps" Target="/ppt/presProps.xml" Id="Rec542940f1db4ecd" /><Relationship Type="http://schemas.openxmlformats.org/officeDocument/2006/relationships/tableStyles" Target="/ppt/tableStyles.xml" Id="Re805ce70f2e84a66" /><Relationship Type="http://schemas.openxmlformats.org/officeDocument/2006/relationships/slide" Target="/ppt/slides/slide1.xml" Id="Rc148757b68c84242" /><Relationship Type="http://schemas.openxmlformats.org/officeDocument/2006/relationships/slide" Target="/ppt/slides/slide2.xml" Id="Raed031adf30145a3" /><Relationship Type="http://schemas.openxmlformats.org/officeDocument/2006/relationships/slide" Target="/ppt/slides/slide3.xml" Id="R99a95b7e4a6f4a67" /><Relationship Type="http://schemas.openxmlformats.org/officeDocument/2006/relationships/slide" Target="/ppt/slides/slide4.xml" Id="R9d38d5e358af41f5" /><Relationship Type="http://schemas.openxmlformats.org/officeDocument/2006/relationships/slide" Target="/ppt/slides/slide5.xml" Id="Rbd2539509da14146" /><Relationship Type="http://schemas.openxmlformats.org/officeDocument/2006/relationships/slide" Target="/ppt/slides/slide6.xml" Id="Rb59d15810e7a4b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fbf3d2997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b5bd7d5a64f68" /><Relationship Type="http://schemas.openxmlformats.org/officeDocument/2006/relationships/notesMaster" Target="/ppt/notesMasters/notesMaster1.xml" Id="R8baa0668e9f145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22339e75924b16" /><Relationship Type="http://schemas.openxmlformats.org/officeDocument/2006/relationships/notesMaster" Target="/ppt/notesMasters/notesMaster1.xml" Id="R9c3749465f5542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66cddaa3f40b0" /><Relationship Type="http://schemas.openxmlformats.org/officeDocument/2006/relationships/notesMaster" Target="/ppt/notesMasters/notesMaster1.xml" Id="R941c75d922784d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b69b1802b45f0" /><Relationship Type="http://schemas.openxmlformats.org/officeDocument/2006/relationships/notesMaster" Target="/ppt/notesMasters/notesMaster1.xml" Id="R7c96041032b540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ae5d13d404bd2" /><Relationship Type="http://schemas.openxmlformats.org/officeDocument/2006/relationships/notesMaster" Target="/ppt/notesMasters/notesMaster1.xml" Id="Rcf8fd35138f7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3f94b5cb184ce5" /><Relationship Type="http://schemas.openxmlformats.org/officeDocument/2006/relationships/notesMaster" Target="/ppt/notesMasters/notesMaster1.xml" Id="Ra647d4946280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a provider can report a successful delivery while the customer still does not receive access. SHAPI monitors the business outcome behind the webhook.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hidden failure mode. The payment event is delivered and acknowledged, but the downstream provisioning step silently fails. The provider dashboard remains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primitive. Instead of asking only whether the webhook arrived, SHAPI asserts that the expected business outcome happened within a time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start on the dashboard, show a healthy baseline, run the failure simulation, refresh, open the new incident, and click Diagnose + suggest repairs. Keep the drift simulation as an optional appendix if time allows.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AI angle carefully. SHAPI creates the structured evidence an AI incident assistant needs: event chain, invariant result, correlation, root cause, and suggested repair. The live product already generates this context through its diagnosis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memorable distinction: delivery success is not business success. SHAPI detects the missing link and turns it into actionable incident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38797b9c34d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308c76e2244a50" /><Relationship Type="http://schemas.openxmlformats.org/officeDocument/2006/relationships/slideLayout" Target="/ppt/slideLayouts/slideLayout1.xml" Id="R6d4ddc4baf0249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ddc4baf0249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75e582cec4d09" /><Relationship Type="http://schemas.openxmlformats.org/officeDocument/2006/relationships/notesSlide" Target="/ppt/notesSlides/notesSlide1.xml" Id="R0bd07dee43e4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b172bb8b4798" /><Relationship Type="http://schemas.openxmlformats.org/officeDocument/2006/relationships/notesSlide" Target="/ppt/notesSlides/notesSlide2.xml" Id="Rdd5b2df0e542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5921db3214808" /><Relationship Type="http://schemas.openxmlformats.org/officeDocument/2006/relationships/notesSlide" Target="/ppt/notesSlides/notesSlide3.xml" Id="R014d242bef68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28ced6f094b52" /><Relationship Type="http://schemas.openxmlformats.org/officeDocument/2006/relationships/notesSlide" Target="/ppt/notesSlides/notesSlide4.xml" Id="R8d4047f6c57f48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aacb60526477f" /><Relationship Type="http://schemas.openxmlformats.org/officeDocument/2006/relationships/notesSlide" Target="/ppt/notesSlides/notesSlide5.xml" Id="R32d13e3ad44a43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eeb7c24ec4e17" /><Relationship Type="http://schemas.openxmlformats.org/officeDocument/2006/relationships/notesSlide" Target="/ppt/notesSlides/notesSlide6.xml" Id="Ree5c214d8102432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2000">
              <a:srgbClr val="F8FCFF"/>
            </a:gs>
            <a:gs pos="100000">
              <a:srgbClr val="DCEE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495BBD-5DD6-45CC-9846-AB2628CB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A6645-2119-400E-942D-6E810451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0" y="762000"/>
            <a:ext cx="4953000" cy="495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BE8FF">
                  <a:alpha val="78000"/>
                </a:srgbClr>
              </a:gs>
              <a:gs pos="100000">
                <a:srgbClr val="CBE8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A8457-FE28-4EF3-9D6E-9B752F7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1714500"/>
            <a:ext cx="4762500" cy="4762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BE8FF">
                  <a:alpha val="78000"/>
                </a:srgbClr>
              </a:gs>
              <a:gs pos="100000">
                <a:srgbClr val="CBE8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FA38D-A8B7-4BC2-87AB-9D29D1EE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62500"/>
            <a:ext cx="400050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9EEFF">
                  <a:alpha val="78000"/>
                </a:srgbClr>
              </a:gs>
              <a:gs pos="100000">
                <a:srgbClr val="D9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53F04-1414-48E9-9A8B-976E6C9A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1428750"/>
            <a:ext cx="4667250" cy="466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5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567BA-F82D-44D6-8C74-FC8AE1F3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-1381125"/>
            <a:ext cx="4333875" cy="43338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500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9A848-E785-48DF-8969-25B3B0D5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71373-5EFD-452D-A628-2E5CDAA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906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Self-healing APIs for</a:t>
            </a:r>
          </a:p>
          <a:p xmlns:a="http://schemas.openxmlformats.org/drawingml/2006/main">
            <a:pPr algn="ctr">
              <a:defRPr sz="202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EB8D5-E6D5-4184-87B3-AF0FD10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52600"/>
            <a:ext cx="3848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024F3-774E-4D24-863B-EFFA2E73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3848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AA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63972-A194-409C-886B-6C8958FD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8CDA0-AE9F-4A0C-A57B-EF039BD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4E17F-7EBB-4252-87A5-7BE5DE1E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8382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Tulasi Venkata</a:t>
            </a:r>
          </a:p>
          <a:p xmlns:a="http://schemas.openxmlformats.org/drawingml/2006/main">
            <a:pPr algn="l">
              <a:defRPr sz="1275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Sri Varshini Padamata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DD82D-59C4-4EFB-8F8A-302AF3F1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9065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8DA64-5933-4A3D-BDE7-D1EB5223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7B34D-CBE4-405E-AF07-15CF946F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33550"/>
            <a:ext cx="2324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GitHub  @SriVarshini09   ·   LinkedIn  /in/ptvsv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EAA4D-B576-4965-8FC7-176C4A9D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80772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9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FE6CE-A70E-41D0-BEF4-EEEB1F5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433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2816F-635E-41A0-879B-FA3026AD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38550"/>
            <a:ext cx="1885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9525">
            <a:solidFill>
              <a:srgbClr val="A9D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E351A-B0EC-410E-A248-6663CF80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7F385-3CB5-434E-A110-45E32DB0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432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233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233F"/>
                </a:solidFill>
                <a:latin typeface="Arial"/>
                <a:ea typeface="Arial"/>
                <a:cs typeface="Arial"/>
              </a:rPr>
              <a:t>can still fail the customer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49F02-4C6C-491E-8AB0-CFF349F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API reports success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35BE4-3F2F-4B02-B326-8564408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9E724-7EA7-40C7-9E2B-C88FA3D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SHAPI verifies the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5D5C9-B0DE-4BA8-A97D-D96D05A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718E5-4550-4A34-9C8C-A483D3D6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silent failure detected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C194D-BCFF-409E-8896-FE30FB3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05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→ 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041A2-9688-4790-AEA2-8EDAC45C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76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FAAF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AAF1"/>
                </a:solidFill>
                <a:latin typeface="Arial"/>
                <a:ea typeface="Arial"/>
                <a:cs typeface="Arial"/>
              </a:rPr>
              <a:t>Self-healing APIs, beyond 200 OK.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364FE7-E77F-41A3-8F30-7425D20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526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2954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6A3B7-5AE1-46EC-91A9-60EF7B8D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38F0C-97D8-446B-AF65-8E5F4ACD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gap between delivery and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1C312-8342-46EA-BFB9-E9C2A135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Most webhook tooling stops at the HTTP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6DBD8-64B5-4056-B367-A0CFF86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14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2EBE4-D2F3-4831-90C6-DCAE2941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Third-party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BC787-C6D3-4E46-A03B-2FEBF911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66E63-F4A0-4CD1-91F6-8FF6B707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Stripe says the event arrived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189AC-7506-4F69-8B86-317F4566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1238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11266-8FD0-4993-AAAA-A1219C49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575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200</a:t>
            </a:r>
          </a:p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869CC-F44D-4EB7-9FC6-69AA5849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90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1A540-557E-4CC7-B122-D7886EB1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55AB3-729E-4AF9-8922-EED73A4E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Customer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94165-F8B8-4131-8A9C-7FE0297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provisioning.completed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24E35-8183-4348-86EE-4B8C0B64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But the user never gets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3B05F-8D41-4AA6-B965-E449E92A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FC0D9-BCED-4745-9E75-F9EA165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is silent because the transport layer looks healthy.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6AD6B-B026-402D-BF78-F94BB53B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B8075-8233-43C9-9AD3-E000F8F9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65B2D-1E02-4FE7-B82C-C846904C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3731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BB092-1DFE-4C16-8E4E-0A447A2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CORE 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BE7E8-C606-41C8-B38E-0EDF01BE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behavioral invariant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89B27-8367-42C8-920A-20B3A57C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turns the business promise into an executable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AD656-BB76-4126-89F3-5C662C70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46BF8-42CD-4EEB-B119-7E8C2E2D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payment_succeeded  →  provisioning.completed within 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94F16-8020-4D09-AC58-1D2E6433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The platform evaluates real event streams over time, then records the evidence when the promise breaks.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C25A2-A65D-424F-A37F-57955682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FC968-6222-4F0F-B8B1-8C320831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B94E8-0AB3-4358-A26D-E6B2FDD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75A24-AD11-45B7-B0FB-0FDD24F7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Capture webhook and SDK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2012A-4C20-4035-B8C6-06875159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AAB31-D946-4923-A694-AF2CDAAF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A3B10-2BB6-4621-BEE9-88F3706C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5153F-BBBF-4A7C-AB30-0FFD0423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E5459-1C09-4175-8C07-C97360A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Check the expected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30C95-B61C-451F-8D7A-7F988FCD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D583D-FCF4-44AC-BBA1-640B63C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787B5-DA6C-447F-A4B4-BABF30FF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DE46C-7787-4065-936D-D377B415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63B04-834D-450E-A9FB-3B199D50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Create evidence for an incident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79BE4-5D1B-4401-88CE-2FCD4C1B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F270D-6DB6-481B-A127-71537A6E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5299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06FBF1-A8CB-4592-B40A-3A5A8572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38484-D2F3-4E70-85CB-C251798C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appears in 90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3FB1A-D941-44C9-8B02-B39B956A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Use the existing Demo SaaS and dashboard to make the contrast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0BCD9-0BA9-449D-B518-84987785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50ADB-FEFF-45A6-BDDB-A31A7A3F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F5B39-C627-4758-805D-C0297820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067DF-27ED-4012-954B-C7A75D54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Show healthy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D5743-F508-4D89-ABB0-D89F47F5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5ADC3-9748-4B44-8576-3B2580BC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E511F-30BB-4085-A84D-FD2FB54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BA169-229B-4AEA-B0B8-3B249899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5C962-61F9-4654-8A4C-56935725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simulate:failure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2FEBE-3C61-4F96-B008-CAD72D4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75261-DDE6-468C-A381-6A5DAD3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2E1D8-8864-48EB-A690-EB8A8CD0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5B281-B1B2-4381-99F3-D30257D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B9DD6-A6C9-4DF1-B1EE-B4817B8B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200 OK + violated invariant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70EA5-7394-47CE-A314-1E7C4E38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5651F-2EA0-4C1B-A27B-D90ADB7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0A00A-F572-4C3E-86D9-8920CAA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57F78-9EAA-409D-9CDD-4A69DCA3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FC1B4-AC5C-47E1-A3FC-846D68A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Diagnose + suggest repairs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AF34D-907C-4237-A3AD-5FEAF91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5D520-865C-4D85-AC1E-ACFDCE00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pnpm --filter @shapi/demo-saas simulate:failure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DD7DC-13F0-4310-BFFE-868AE318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1BB7AC-1860-423B-BF9A-85EB7B81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8989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5D005-A957-4855-82B7-DA010A8A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AI PAYOFF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9C10E-AFE0-4437-AF75-8E3D56B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Better evidence makes better incident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25732-22C7-4030-A189-9EA351B3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gives an AI incident workflow the business context that logs alone miss.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F5464-178A-49B0-AACA-3D3602F6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41D70-835A-4F74-BEB8-8226C3A0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Observed event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5B06B-4AF1-4DBE-AFE0-7A6C455B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009AD-DF93-4BD1-8586-591B69EF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35D2F-E963-43AF-82BC-AE7F8BE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provisioning.failed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C8775-1049-4A97-A699-770CFC3D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correlationId: cus_demo_…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01959-C5BA-4BFA-A639-82F267C9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Invariant: VIOLATED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1C9BA-BF9A-4E95-85D9-2573294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91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CF049-D181-4955-82D0-1A08D956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Incident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90D03-62FB-4F86-A30D-581AC45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9B6B4-EBD2-4D7C-936F-9FA49591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 was skipped after payment success.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CDCF5-9E6D-4AE3-BC30-C3D2CEBE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Suggested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63873-1C6A-4517-B1CB-BCE4F548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Restore provisioning, then replay the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09F56-F869-4808-9FF2-AA901B7A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TRIAGED  ·  evidence attached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5C42B0-9A3B-436B-946E-EEAA26E3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70985-BCB2-47DB-89CA-71A4DBB1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1737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54E49-51C7-4926-A987-00AC37C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D37D1-87A3-4E5B-A6E8-45EFCC86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01408-5A7C-4051-9123-98C3E849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Monitor what</a:t>
            </a:r>
          </a:p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integrations accomplish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69ED-67B6-44B7-A178-628257B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A payment succeeds. Access follows. SHAPI proves the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E3431-4B3D-44C6-92FA-BFB7C130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Live proof: dashboard + Demo SaaS + one silent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915B5-1B49-49C8-90AD-4D0F6DC1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0FB61-E5FB-4314-BBBB-36A01D16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595EC-7FD5-435C-82F9-7A01625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99F30-8623-4C76-9575-0F16E4E1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44347-C2D9-4F76-9352-CCCBC811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D0D97-BE92-405F-B8E7-31EEF146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566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2026-09-29T21:12:37.3370000Z</dcterms:created>
  <dcterms:modified xsi:type="dcterms:W3CDTF">2026-09-29T21:12:37.3370000Z</dcterms:modified>
</coreProperties>
</file>