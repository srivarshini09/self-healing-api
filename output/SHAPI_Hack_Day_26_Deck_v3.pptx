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daf39312204c54" /><Relationship Type="http://schemas.openxmlformats.org/officeDocument/2006/relationships/extended-properties" Target="/docProps/app.xml" Id="R4d6f4aec3b374598" /><Relationship Type="http://schemas.openxmlformats.org/officeDocument/2006/relationships/officeDocument" Target="/ppt/presentation.xml" Id="R7c8d1ffc8ea8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5a12fedd147bb"/>
  </p:sldMasterIdLst>
  <p:notesMasterIdLst>
    <p:notesMasterId xmlns:r="http://schemas.openxmlformats.org/officeDocument/2006/relationships" r:id="Rc8ac6d5db9bd47aa"/>
  </p:notesMasterIdLst>
  <p:sldIdLst>
    <p:sldId xmlns:r="http://schemas.openxmlformats.org/officeDocument/2006/relationships" id="256" r:id="Raf1350b8496f412c"/>
    <p:sldId xmlns:r="http://schemas.openxmlformats.org/officeDocument/2006/relationships" id="257" r:id="Rad3b1170355449b5"/>
    <p:sldId xmlns:r="http://schemas.openxmlformats.org/officeDocument/2006/relationships" id="258" r:id="R02460dc88d2649b9"/>
    <p:sldId xmlns:r="http://schemas.openxmlformats.org/officeDocument/2006/relationships" id="259" r:id="R2311ce80efc64e56"/>
    <p:sldId xmlns:r="http://schemas.openxmlformats.org/officeDocument/2006/relationships" id="260" r:id="R0423de20360c4acd"/>
    <p:sldId xmlns:r="http://schemas.openxmlformats.org/officeDocument/2006/relationships" id="261" r:id="Rd7cbd669642a41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abea8924d44c96" /><Relationship Type="http://schemas.openxmlformats.org/officeDocument/2006/relationships/slideMaster" Target="/ppt/slideMasters/slideMaster1.xml" Id="Ra615a12fedd147bb" /><Relationship Type="http://schemas.openxmlformats.org/officeDocument/2006/relationships/notesMaster" Target="/ppt/notesMasters/notesMaster1.xml" Id="Rc8ac6d5db9bd47aa" /><Relationship Type="http://schemas.openxmlformats.org/officeDocument/2006/relationships/presProps" Target="/ppt/presProps.xml" Id="R6643d07251e5416c" /><Relationship Type="http://schemas.openxmlformats.org/officeDocument/2006/relationships/tableStyles" Target="/ppt/tableStyles.xml" Id="R40d88daf10fe4ddc" /><Relationship Type="http://schemas.openxmlformats.org/officeDocument/2006/relationships/slide" Target="/ppt/slides/slide1.xml" Id="Raf1350b8496f412c" /><Relationship Type="http://schemas.openxmlformats.org/officeDocument/2006/relationships/slide" Target="/ppt/slides/slide2.xml" Id="Rad3b1170355449b5" /><Relationship Type="http://schemas.openxmlformats.org/officeDocument/2006/relationships/slide" Target="/ppt/slides/slide3.xml" Id="R02460dc88d2649b9" /><Relationship Type="http://schemas.openxmlformats.org/officeDocument/2006/relationships/slide" Target="/ppt/slides/slide4.xml" Id="R2311ce80efc64e56" /><Relationship Type="http://schemas.openxmlformats.org/officeDocument/2006/relationships/slide" Target="/ppt/slides/slide5.xml" Id="R0423de20360c4acd" /><Relationship Type="http://schemas.openxmlformats.org/officeDocument/2006/relationships/slide" Target="/ppt/slides/slide6.xml" Id="Rd7cbd669642a41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c296c339b74c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4f39ab98644af1" /><Relationship Type="http://schemas.openxmlformats.org/officeDocument/2006/relationships/notesMaster" Target="/ppt/notesMasters/notesMaster1.xml" Id="Reec72f63bfdc47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a361fcfc3c48eb" /><Relationship Type="http://schemas.openxmlformats.org/officeDocument/2006/relationships/notesMaster" Target="/ppt/notesMasters/notesMaster1.xml" Id="R112568a4257d43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c80c7f8f2a4be3" /><Relationship Type="http://schemas.openxmlformats.org/officeDocument/2006/relationships/notesMaster" Target="/ppt/notesMasters/notesMaster1.xml" Id="Rc860e21ef62b44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ea4f1b31774f94" /><Relationship Type="http://schemas.openxmlformats.org/officeDocument/2006/relationships/notesMaster" Target="/ppt/notesMasters/notesMaster1.xml" Id="R631bf31a307d4d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fc1a3cee7b40ec" /><Relationship Type="http://schemas.openxmlformats.org/officeDocument/2006/relationships/notesMaster" Target="/ppt/notesMasters/notesMaster1.xml" Id="R3e056269efad49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97514a1dfe4856" /><Relationship Type="http://schemas.openxmlformats.org/officeDocument/2006/relationships/notesMaster" Target="/ppt/notesMasters/notesMaster1.xml" Id="Rcab7f922e69548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thesis: a provider can report a successful delivery while the customer still does not receive access. SHAPI monitors the business outcome behind the webhook.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hidden failure mode. The payment event is delivered and acknowledged, but the downstream provisioning step silently fails. The provider dashboard remains green.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product primitive. Instead of asking only whether the webhook arrived, SHAPI asserts that the expected business outcome happened within a time window.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sequence: start on the dashboard, show a healthy baseline, run the failure simulation, refresh, open the new incident, and click Diagnose + suggest repairs. Keep the drift simulation as an optional appendix if time allows.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AI angle carefully. SHAPI creates the structured evidence an AI incident assistant needs: event chain, invariant result, correlation, root cause, and suggested repair. The live product already generates this context through its diagnosis workflow.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memorable distinction: delivery success is not business success. SHAPI detects the missing link and turns it into actionable incident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ba15cb457941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c9f6f9eeab4e4d" /><Relationship Type="http://schemas.openxmlformats.org/officeDocument/2006/relationships/slideLayout" Target="/ppt/slideLayouts/slideLayout1.xml" Id="Ra6d96e43d09c40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d96e43d09c40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522c43570498d" /><Relationship Type="http://schemas.openxmlformats.org/officeDocument/2006/relationships/notesSlide" Target="/ppt/notesSlides/notesSlide1.xml" Id="Re2d8b764b9be43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5d3e03062475a" /><Relationship Type="http://schemas.openxmlformats.org/officeDocument/2006/relationships/notesSlide" Target="/ppt/notesSlides/notesSlide2.xml" Id="R0efe079de5e844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2fc1af02940d5" /><Relationship Type="http://schemas.openxmlformats.org/officeDocument/2006/relationships/notesSlide" Target="/ppt/notesSlides/notesSlide3.xml" Id="R7c1346de4ac141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be37de79a4e8f" /><Relationship Type="http://schemas.openxmlformats.org/officeDocument/2006/relationships/notesSlide" Target="/ppt/notesSlides/notesSlide4.xml" Id="R443a7fb3465841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5ebc4dfc343bc" /><Relationship Type="http://schemas.openxmlformats.org/officeDocument/2006/relationships/notesSlide" Target="/ppt/notesSlides/notesSlide5.xml" Id="R3d187c53a7e44e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01749a9ab648f0" /><Relationship Type="http://schemas.openxmlformats.org/officeDocument/2006/relationships/notesSlide" Target="/ppt/notesSlides/notesSlide6.xml" Id="Redcba8e39d5a4e1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94B60-F064-4608-8408-CB724544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ED33FD-DC25-4EBD-A042-CF6B65F6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4424D-8DD5-4370-9169-B4E26F3B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47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200 OK can still</a:t>
            </a:r>
          </a:p>
          <a:p xmlns:a="http://schemas.openxmlformats.org/drawingml/2006/main">
            <a:pPr algn="l">
              <a:defRPr sz="43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fail the customer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9E65B-43B9-4E23-8E1F-69C179E6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Behavioral assurance for third-party integrations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D5B4DF-636F-4406-A4E0-AB67B4C6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AI Conference Hack Day '26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A0EB2-B6E5-41AF-88D5-B76A86F9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57300"/>
            <a:ext cx="3143250" cy="36195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36B82-F6DC-46C0-AAAE-4213A8C4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95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HTTP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814C3-BF2A-4CD9-A3B7-549587E9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 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EF74D-7275-47E7-AAED-E3934F1C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6244F-0EA7-4063-BC20-304387454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14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BUSINESS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D7C2F9-72ED-432B-997F-32B3C7E7A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14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no access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E0DCA-F189-422A-8330-343F3FCC6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863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Delivery succeeded.</a:t>
            </a:r>
          </a:p>
          <a:p xmlns:a="http://schemas.openxmlformats.org/drawingml/2006/main">
            <a:pPr algn="ctr">
              <a:defRPr sz="135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outcome did not.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B7D366-CC5F-4568-A69D-EE1A7546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AE43E-0704-4567-A518-FBFF6541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67222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87136-0811-4A59-A5D7-A46A3F87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832E8-C2BD-41E7-AF37-14C0AE13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gap between delivery and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60969-DE15-4AED-BD60-2840424D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Most webhook tooling stops at the HTTP response.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BE348-1271-4439-8450-A2A81534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1148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21D7D-A7AF-4421-BF32-DD4101DD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Third-party event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DBAA5E-9E01-48B3-B5F9-878D10E8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D9202A-1E01-4FA2-95E8-AFFADA28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Stripe says the event arrived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C3199-8073-443F-9430-D8FFD3E7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14650"/>
            <a:ext cx="1238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CD6147-6752-4676-ACDD-E7647A0DF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57525"/>
            <a:ext cx="933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200</a:t>
            </a:r>
          </a:p>
          <a:p xmlns:a="http://schemas.openxmlformats.org/drawingml/2006/main">
            <a:pPr algn="ctr">
              <a:defRPr sz="22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7C2D2B-1532-4CB0-B158-58F07900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90900"/>
            <a:ext cx="647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7740C-569A-4FA3-9BF6-DCCA03E0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40957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A37DAA-7222-4DA3-9154-214E3297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Customer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4DA4C-3BF9-4629-8E0C-3FCFD84F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051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provisioning.completed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8DFDC-AC85-4A4A-B27C-12A25B54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8100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But the user never gets access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0BBEC-090F-467C-91CE-13F2B76C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909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80BB7E-A095-4B76-A875-619CC41B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is silent because the transport layer looks healthy.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09B73-C6A1-4C8B-BEEF-51061917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For SaaS teams, that means paid customers without access.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B2B164-91A4-4CD6-8F51-0BC0D367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D5331-969D-464F-B307-2FB7249A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51245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F8DF93-B273-4DF8-891D-D6744EF6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CORE ABSTRACTION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8EB465-C4E7-4BE4-858E-58847E65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A behavioral invariant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BB6ED-EA29-4A3E-8FDE-E0D502D2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turns the business promise into an executable assertion.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64D97-C54B-4E19-A3F1-9D30791E5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08204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B4269-74A9-4A58-8DD7-27FB9D837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57475"/>
            <a:ext cx="10058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payment_succeeded  →  provisioning.completed within 5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B658B-E2D5-406C-BD45-22F3D1A3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The platform evaluates real event streams over time, then records the evidence when the promise breaks.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E250E-F798-4737-A5B7-DDE2EE81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A4939-C43F-4CDD-9E67-E6E07079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E7121E-FC00-4A99-854B-F8770D94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90730A-D4C7-4654-99BF-6936DC01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Capture webhook and SDK events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38554-8324-490D-8235-D77CD055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B28903-EE49-4EE0-A521-A6171F22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9DF7DC-6AC7-4363-9B39-D0275509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D4200-7BBD-4640-A4BF-9BE1480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BB399-6618-4089-BBD1-306EC8D1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Check the expected 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7021B4-00D3-40BE-B953-4669B9E0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1495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0C5D9D-05E0-4AD0-8D2E-20476746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A3988F-C46F-4BD5-B029-518ADF169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720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4C2D05-9B30-4489-A08F-F02F3DDF2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E7364-6C59-4F78-8582-C96FF140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53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Create evidence for an incident copilot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70C82B-70FF-457B-B77B-22F7849D8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671B5C-A96F-4DC2-BBEE-1A8B2189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638208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FE17A-639E-4A5B-BE3E-22B12630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C8B7E-7818-4ADB-9A27-6939B592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The failure appears in 90 seconds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739C14-02A5-46D5-A929-3A1E7FFD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Use the existing Demo SaaS and dashboard to make the contrast visible.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82A08-9260-4D8C-BF90-352D937F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1DE983-8265-4883-A0C4-D4D0DB1F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22739A-C996-4328-A577-CB7A73F3C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98F861-FA77-473A-96AF-2C252AE3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Show healthy monitoring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5273FF-6674-453F-8556-7664916C8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A7A6A5-934D-4168-B20B-150523DB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90EBA-9AEC-4F18-B8B3-C91341C6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DCC76-22E8-4E13-AA24-BECBD1D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AF537-E602-443B-A0C7-3F094185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simulate:failure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EFBF68-9E02-4ED5-B3F0-42EC7CDD8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5E4CD-DBB2-4B25-90ED-03D31BD1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5A6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86B252-522A-4D4B-962A-D123A2CC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711BE-1CC7-4BD9-83A5-477BA61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Detect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59228-6583-454F-96D1-F956742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200 OK + violated invariant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4C385F-615F-4719-B8F7-80D1572B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956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4DA8F-CF11-4A82-B75B-2A43648F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F3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9F6F8-9C69-4ABE-AEF4-C5B541AD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0D1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0D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518ADE-28F1-4D3E-871C-0BDA1525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29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F056F-ADC1-4D6C-A1A7-A133F8A53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29050"/>
            <a:ext cx="2114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Diagnose + suggest repairs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5CD81-0FC2-411A-A6C1-48FBF0B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F03E3F-B1CD-496E-A8D2-3275BEE5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pnpm --filter @shapi/demo-saas simulate:failure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2188F5-FF9F-428B-A2D7-D97569B3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042C5B-F4C7-433B-AE67-DB4C4041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317639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05D115-9310-4DDB-B749-4CF9A206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THE AI PAYOFF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3E082-8227-48F6-9EB8-6CB0A966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Better evidence makes better incident reasoning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3DCF2-D555-4DDD-BFA5-82A10664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gives an AI incident workflow the business context that logs alone miss.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A1DAB8-4935-4F9A-B518-0252BE29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5143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23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37455-1549-4C48-9DC2-BCAE4F95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Observed event chain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E37EC-1F4E-4ACD-86EE-D573D7C4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invoice.payment_succeeded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03323-0DCB-4A0A-9B14-8DF7509C2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71875"/>
            <a:ext cx="285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D7E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8F284-6BDD-42DB-8D04-BE773CB2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provisioning.failed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F1E65-73ED-415B-BF66-873C3EBC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48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correlationId: cus_demo_…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1A29EB-4A3D-4FAC-8CA8-6CBD9D9A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Invariant: VIOLATED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031A7-24A6-4E80-9208-A9FF55EF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24100"/>
            <a:ext cx="49911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7B8BF8-F816-4415-AED3-F722CE84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09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Incident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D5C761-EA57-4B57-971B-8A5EF2BD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Root cause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5EE55-5996-44AC-ABFB-3B038F9A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2900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Provisioning was skipped after payment success.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3092A7-D9C6-4EE4-BF8E-69E9E3C1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100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Suggested repair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739DEA-53B9-4D98-8BFB-4459FFEE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577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Restore provisioning, then replay the event.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28911-625A-4AD7-B598-AD603F067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51054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TRIAGED  ·  evidence attached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1C3864-064A-489D-B818-9855A642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71BB02-92F1-48CC-8DF1-2FF69311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7493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94562-0912-4313-B61E-4B2EB97D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952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DDD1E-F3B8-4A64-8958-AB19C11B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763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8D7E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8D7E3"/>
                </a:solidFill>
                <a:latin typeface="Arial"/>
                <a:ea typeface="Arial"/>
                <a:cs typeface="Arial"/>
              </a:rPr>
              <a:t>SHAPI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86A427-671D-442D-AFB8-8D701707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145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Monitor what</a:t>
            </a:r>
          </a:p>
          <a:p xmlns:a="http://schemas.openxmlformats.org/drawingml/2006/main">
            <a:pPr algn="l">
              <a:defRPr sz="4050" b="1" i="0">
                <a:solidFill>
                  <a:srgbClr val="F5F7FB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5F7FB"/>
                </a:solidFill>
                <a:latin typeface="Arial"/>
                <a:ea typeface="Arial"/>
                <a:cs typeface="Arial"/>
              </a:rPr>
              <a:t>integrations accomplish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77345-CED1-4C5D-B765-4A17C480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A payment succeeds. Access follows. SHAPI proves the link.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D933BE-A2D9-4951-A61D-61D34835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291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Live proof: dashboard + Demo SaaS + one silent failure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ECAA31-0240-43FB-B439-72F45652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3355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C4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DB985-1251-4662-9E11-1B689A21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14550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B9F35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B9F35A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4E1A4-81A8-43AB-8A11-AC7E6859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46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6B5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D96893-2CF6-4827-BF58-4C34464E1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45A6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45A66"/>
                </a:solidFill>
                <a:latin typeface="Arial"/>
                <a:ea typeface="Arial"/>
                <a:cs typeface="Arial"/>
              </a:rPr>
              <a:t>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188FF-B1FE-49AF-AD8E-30531E02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SHAPI  /  AI CONFERENCE HACK DAY '26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E2F57-5C30-4EC5-91F5-C74F6E28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 i="0">
                <a:solidFill>
                  <a:srgbClr val="AAB7C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AB7C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35315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2026-09-29T19:57:46.5270000Z</dcterms:created>
  <dcterms:modified xsi:type="dcterms:W3CDTF">2026-09-29T19:57:46.5280000Z</dcterms:modified>
</coreProperties>
</file>